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2286000"/>
            <a:ext cx="12188952" cy="822960"/>
          </a:xfrm>
          <a:prstGeom prst="rect">
            <a:avLst/>
          </a:prstGeom>
          <a:noFill/>
          <a:ln/>
        </p:spPr>
        <p:txBody>
          <a:bodyPr wrap="square" lIns="0" tIns="0" rIns="0" bIns="0" rtlCol="0" anchor="ctr"/>
          <a:lstStyle/>
          <a:p>
            <a:pPr algn="ctr" indent="0" marL="0">
              <a:buNone/>
            </a:pPr>
            <a:r>
              <a:rPr lang="en-US" sz="4000" b="1" dirty="0">
                <a:solidFill>
                  <a:srgbClr val="1F3864"/>
                </a:solidFill>
                <a:latin typeface="Cambria" pitchFamily="34" charset="0"/>
                <a:ea typeface="Cambria" pitchFamily="34" charset="-122"/>
                <a:cs typeface="Cambria" pitchFamily="34" charset="-120"/>
              </a:rPr>
              <a:t>OmniPulse</a:t>
            </a:r>
            <a:endParaRPr lang="en-US" sz="4000" dirty="0"/>
          </a:p>
        </p:txBody>
      </p:sp>
      <p:sp>
        <p:nvSpPr>
          <p:cNvPr id="3" name="Text 1"/>
          <p:cNvSpPr txBox="1"/>
          <p:nvPr/>
        </p:nvSpPr>
        <p:spPr>
          <a:xfrm>
            <a:off x="0" y="3063240"/>
            <a:ext cx="12188952" cy="502920"/>
          </a:xfrm>
          <a:prstGeom prst="rect">
            <a:avLst/>
          </a:prstGeom>
          <a:noFill/>
          <a:ln/>
        </p:spPr>
        <p:txBody>
          <a:bodyPr wrap="square" lIns="0" tIns="0" rIns="0" bIns="0" rtlCol="0" anchor="ctr"/>
          <a:lstStyle/>
          <a:p>
            <a:pPr algn="ctr" indent="0" marL="0">
              <a:buNone/>
            </a:pPr>
            <a:r>
              <a:rPr lang="en-US" sz="1900" dirty="0">
                <a:solidFill>
                  <a:srgbClr val="5A5A5A"/>
                </a:solidFill>
                <a:latin typeface="Calibri" pitchFamily="34" charset="0"/>
                <a:ea typeface="Calibri" pitchFamily="34" charset="-122"/>
                <a:cs typeface="Calibri" pitchFamily="34" charset="-120"/>
              </a:rPr>
              <a:t>Proposed End-to-End Big Data Analytics Architecture</a:t>
            </a:r>
            <a:endParaRPr lang="en-US" sz="1900" dirty="0"/>
          </a:p>
        </p:txBody>
      </p:sp>
      <p:sp>
        <p:nvSpPr>
          <p:cNvPr id="4" name="Text 2"/>
          <p:cNvSpPr txBox="1"/>
          <p:nvPr/>
        </p:nvSpPr>
        <p:spPr>
          <a:xfrm>
            <a:off x="0" y="3794760"/>
            <a:ext cx="12188952" cy="320040"/>
          </a:xfrm>
          <a:prstGeom prst="rect">
            <a:avLst/>
          </a:prstGeom>
          <a:noFill/>
          <a:ln/>
        </p:spPr>
        <p:txBody>
          <a:bodyPr wrap="square" lIns="0" tIns="0" rIns="0" bIns="0" rtlCol="0" anchor="ctr"/>
          <a:lstStyle/>
          <a:p>
            <a:pPr algn="ctr" indent="0" marL="0">
              <a:buNone/>
            </a:pPr>
            <a:r>
              <a:rPr lang="en-US" sz="1300" dirty="0">
                <a:solidFill>
                  <a:srgbClr val="333333"/>
                </a:solidFill>
                <a:latin typeface="Calibri" pitchFamily="34" charset="0"/>
                <a:ea typeface="Calibri" pitchFamily="34" charset="-122"/>
                <a:cs typeface="Calibri" pitchFamily="34" charset="-120"/>
              </a:rPr>
              <a:t>Real-time transaction ingestion  •  Distributed storage  •  Batch analytics</a:t>
            </a:r>
            <a:endParaRPr lang="en-US" sz="1300" dirty="0"/>
          </a:p>
        </p:txBody>
      </p:sp>
      <p:sp>
        <p:nvSpPr>
          <p:cNvPr id="5" name="Text 3"/>
          <p:cNvSpPr txBox="1"/>
          <p:nvPr/>
        </p:nvSpPr>
        <p:spPr>
          <a:xfrm>
            <a:off x="0" y="4160520"/>
            <a:ext cx="12188952" cy="320040"/>
          </a:xfrm>
          <a:prstGeom prst="rect">
            <a:avLst/>
          </a:prstGeom>
          <a:noFill/>
          <a:ln/>
        </p:spPr>
        <p:txBody>
          <a:bodyPr wrap="square" lIns="0" tIns="0" rIns="0" bIns="0" rtlCol="0" anchor="ctr"/>
          <a:lstStyle/>
          <a:p>
            <a:pPr algn="ctr" indent="0" marL="0">
              <a:buNone/>
            </a:pPr>
            <a:r>
              <a:rPr lang="en-US" sz="1300" dirty="0">
                <a:solidFill>
                  <a:srgbClr val="333333"/>
                </a:solidFill>
                <a:latin typeface="Calibri" pitchFamily="34" charset="0"/>
                <a:ea typeface="Calibri" pitchFamily="34" charset="-122"/>
                <a:cs typeface="Calibri" pitchFamily="34" charset="-120"/>
              </a:rPr>
              <a:t>Streaming fraud detection  •  NoSQL  •  Hive  •  Distributed ML  •  Visualization</a:t>
            </a:r>
            <a:endParaRPr lang="en-US" sz="1300" dirty="0"/>
          </a:p>
        </p:txBody>
      </p:sp>
      <p:sp>
        <p:nvSpPr>
          <p:cNvPr id="6" name="Text 4"/>
          <p:cNvSpPr txBox="1"/>
          <p:nvPr/>
        </p:nvSpPr>
        <p:spPr>
          <a:xfrm>
            <a:off x="0" y="5852160"/>
            <a:ext cx="12188952" cy="320040"/>
          </a:xfrm>
          <a:prstGeom prst="rect">
            <a:avLst/>
          </a:prstGeom>
          <a:noFill/>
          <a:ln/>
        </p:spPr>
        <p:txBody>
          <a:bodyPr wrap="square" lIns="0" tIns="0" rIns="0" bIns="0" rtlCol="0" anchor="ctr"/>
          <a:lstStyle/>
          <a:p>
            <a:pPr algn="ctr" indent="0" marL="0">
              <a:buNone/>
            </a:pPr>
            <a:r>
              <a:rPr lang="en-US" sz="1200" i="1" dirty="0">
                <a:solidFill>
                  <a:srgbClr val="8C8C8C"/>
                </a:solidFill>
                <a:latin typeface="Calibri" pitchFamily="34" charset="0"/>
                <a:ea typeface="Calibri" pitchFamily="34" charset="-122"/>
                <a:cs typeface="Calibri" pitchFamily="34" charset="-120"/>
              </a:rPr>
              <a:t>Presentation prepared as a proposed implementation plan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1. Problem Statement</a:t>
            </a:r>
            <a:endParaRPr lang="en-US" sz="2600" dirty="0"/>
          </a:p>
        </p:txBody>
      </p:sp>
      <p:sp>
        <p:nvSpPr>
          <p:cNvPr id="3" name="Text 1"/>
          <p:cNvSpPr txBox="1"/>
          <p:nvPr/>
        </p:nvSpPr>
        <p:spPr>
          <a:xfrm>
            <a:off x="640080" y="1554480"/>
            <a:ext cx="10908792" cy="47548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700" dirty="0">
                <a:solidFill>
                  <a:srgbClr val="333333"/>
                </a:solidFill>
                <a:latin typeface="Calibri" pitchFamily="34" charset="0"/>
                <a:ea typeface="Calibri" pitchFamily="34" charset="-122"/>
                <a:cs typeface="Calibri" pitchFamily="34" charset="-120"/>
              </a:rPr>
              <a:t>Modern global commerce platforms will generate massive transactional datasets at high velocity.</a:t>
            </a:r>
            <a:endParaRPr lang="en-US" sz="1700" dirty="0"/>
          </a:p>
          <a:p>
            <a:pPr marL="228600" indent="-228600">
              <a:lnSpc>
                <a:spcPct val="115000"/>
              </a:lnSpc>
              <a:spcAft>
                <a:spcPts val="1200"/>
              </a:spcAft>
              <a:buSzPct val="100000"/>
              <a:buChar char="•"/>
            </a:pPr>
            <a:r>
              <a:rPr lang="en-US" sz="1700" dirty="0">
                <a:solidFill>
                  <a:srgbClr val="333333"/>
                </a:solidFill>
                <a:latin typeface="Calibri" pitchFamily="34" charset="0"/>
                <a:ea typeface="Calibri" pitchFamily="34" charset="-122"/>
                <a:cs typeface="Calibri" pitchFamily="34" charset="-120"/>
              </a:rPr>
              <a:t>Traditional relational databases will face limitations for large-scale storage, real-time streams, and distributed analytics.</a:t>
            </a:r>
            <a:endParaRPr lang="en-US" sz="1700" dirty="0"/>
          </a:p>
          <a:p>
            <a:pPr marL="228600" indent="-228600">
              <a:lnSpc>
                <a:spcPct val="115000"/>
              </a:lnSpc>
              <a:spcAft>
                <a:spcPts val="1200"/>
              </a:spcAft>
              <a:buSzPct val="100000"/>
              <a:buChar char="•"/>
            </a:pPr>
            <a:r>
              <a:rPr lang="en-US" sz="1700" dirty="0">
                <a:solidFill>
                  <a:srgbClr val="333333"/>
                </a:solidFill>
                <a:latin typeface="Calibri" pitchFamily="34" charset="0"/>
                <a:ea typeface="Calibri" pitchFamily="34" charset="-122"/>
                <a:cs typeface="Calibri" pitchFamily="34" charset="-120"/>
              </a:rPr>
              <a:t>The project will design a Big Data architecture that can ingest transactions, store historical data, process streams, detect fraud, and generate business insights.</a:t>
            </a:r>
            <a:endParaRPr lang="en-US" sz="1700" dirty="0"/>
          </a:p>
          <a:p>
            <a:pPr marL="228600" indent="-228600">
              <a:lnSpc>
                <a:spcPct val="115000"/>
              </a:lnSpc>
              <a:spcAft>
                <a:spcPts val="1200"/>
              </a:spcAft>
              <a:buSzPct val="100000"/>
              <a:buChar char="•"/>
            </a:pPr>
            <a:r>
              <a:rPr lang="en-US" sz="1700" dirty="0">
                <a:solidFill>
                  <a:srgbClr val="333333"/>
                </a:solidFill>
                <a:latin typeface="Calibri" pitchFamily="34" charset="0"/>
                <a:ea typeface="Calibri" pitchFamily="34" charset="-122"/>
                <a:cs typeface="Calibri" pitchFamily="34" charset="-120"/>
              </a:rPr>
              <a:t>The architecture will combine batch and real-time processing rather than relying on a single analytics engine.</a:t>
            </a:r>
            <a:endParaRPr lang="en-US" sz="1700" dirty="0"/>
          </a:p>
        </p:txBody>
      </p:sp>
      <p:sp>
        <p:nvSpPr>
          <p:cNvPr id="4" name="Text 2"/>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2. Project Objectives</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908792" cy="914400"/>
        </p:xfrm>
        <a:graphic>
          <a:graphicData uri="http://schemas.openxmlformats.org/drawingml/2006/table">
            <a:tbl>
              <a:tblPr/>
              <a:tblGrid>
                <a:gridCol w="3636264"/>
                <a:gridCol w="3636264"/>
                <a:gridCol w="3636264"/>
              </a:tblGrid>
              <a:tr h="457200">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Scale</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Stream</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Analyze</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1371600">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Handle a multi-gigabyte transaction workload using distributed storage.</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Process transaction events continuously and evaluate fraud signals.</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Run MapReduce, Hive and Spark analytics over historical data.</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Compare</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Visualize</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1371600">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Use distributed ML for customer segmentation and fraud prediction.</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Benchmark storage, formats, windows and database approaches.</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Expose results through a stakeholder-friendly dashboard.</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3. Recommended 4+ GB Dataset</a:t>
            </a:r>
            <a:endParaRPr lang="en-US" sz="2600" dirty="0"/>
          </a:p>
        </p:txBody>
      </p:sp>
      <p:sp>
        <p:nvSpPr>
          <p:cNvPr id="3" name="Text 1"/>
          <p:cNvSpPr txBox="1"/>
          <p:nvPr/>
        </p:nvSpPr>
        <p:spPr>
          <a:xfrm>
            <a:off x="640080" y="1234440"/>
            <a:ext cx="10908792" cy="365760"/>
          </a:xfrm>
          <a:prstGeom prst="rect">
            <a:avLst/>
          </a:prstGeom>
          <a:noFill/>
          <a:ln/>
        </p:spPr>
        <p:txBody>
          <a:bodyPr wrap="square" lIns="0" tIns="0" rIns="0" bIns="0" rtlCol="0" anchor="ctr"/>
          <a:lstStyle/>
          <a:p>
            <a:pPr indent="0" marL="0">
              <a:buNone/>
            </a:pPr>
            <a:r>
              <a:rPr lang="en-US" sz="1600" b="1" dirty="0">
                <a:solidFill>
                  <a:srgbClr val="333333"/>
                </a:solidFill>
                <a:latin typeface="Calibri" pitchFamily="34" charset="0"/>
                <a:ea typeface="Calibri" pitchFamily="34" charset="-122"/>
                <a:cs typeface="Calibri" pitchFamily="34" charset="-120"/>
              </a:rPr>
              <a:t>Primary dataset: </a:t>
            </a:r>
            <a:pPr indent="0" marL="0">
              <a:buNone/>
            </a:pPr>
            <a:r>
              <a:rPr lang="en-US" sz="1600" i="1" dirty="0">
                <a:solidFill>
                  <a:srgbClr val="333333"/>
                </a:solidFill>
                <a:latin typeface="Calibri" pitchFamily="34" charset="0"/>
                <a:ea typeface="Calibri" pitchFamily="34" charset="-122"/>
                <a:cs typeface="Calibri" pitchFamily="34" charset="-120"/>
              </a:rPr>
              <a:t>dunnhumby “Let’s Get Sort-of-Real”</a:t>
            </a:r>
            <a:endParaRPr lang="en-US" sz="1600" dirty="0"/>
          </a:p>
        </p:txBody>
      </p:sp>
      <p:sp>
        <p:nvSpPr>
          <p:cNvPr id="4" name="Text 2"/>
          <p:cNvSpPr txBox="1"/>
          <p:nvPr/>
        </p:nvSpPr>
        <p:spPr>
          <a:xfrm>
            <a:off x="640080" y="1783080"/>
            <a:ext cx="5225796" cy="36576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Why this dataset?</a:t>
            </a:r>
            <a:endParaRPr lang="en-US" sz="1600" dirty="0"/>
          </a:p>
        </p:txBody>
      </p:sp>
      <p:sp>
        <p:nvSpPr>
          <p:cNvPr id="5" name="Text 3"/>
          <p:cNvSpPr txBox="1"/>
          <p:nvPr/>
        </p:nvSpPr>
        <p:spPr>
          <a:xfrm>
            <a:off x="640080" y="2194560"/>
            <a:ext cx="5225796" cy="3108960"/>
          </a:xfrm>
          <a:prstGeom prst="rect">
            <a:avLst/>
          </a:prstGeom>
          <a:noFill/>
          <a:ln/>
        </p:spPr>
        <p:txBody>
          <a:bodyPr wrap="square" lIns="0" tIns="0" rIns="0" bIns="0" rtlCol="0" anchor="t"/>
          <a:lstStyle/>
          <a:p>
            <a:pPr indent="0" marL="0">
              <a:lnSpc>
                <a:spcPct val="120000"/>
              </a:lnSpc>
              <a:buNone/>
            </a:pPr>
            <a:r>
              <a:rPr lang="en-US" sz="1350" dirty="0">
                <a:solidFill>
                  <a:srgbClr val="333333"/>
                </a:solidFill>
                <a:latin typeface="Calibri" pitchFamily="34" charset="0"/>
                <a:ea typeface="Calibri" pitchFamily="34" charset="-122"/>
                <a:cs typeface="Calibri" pitchFamily="34" charset="-120"/>
              </a:rPr>
              <a:t>The official dunnhumby source page provides a full dataset of approximately 4.3 GB, split into nine ~500 MB files. It contains 300M transactions, 47M baskets, ~500K customers, ~5K products and ~760 stores across 117 weeks. This scale is well suited to demonstrating HDFS, MapReduce, Hive and Spark workloads.</a:t>
            </a:r>
            <a:endParaRPr lang="en-US" sz="1350" dirty="0"/>
          </a:p>
        </p:txBody>
      </p:sp>
      <p:sp>
        <p:nvSpPr>
          <p:cNvPr id="6" name="Text 4"/>
          <p:cNvSpPr txBox="1"/>
          <p:nvPr/>
        </p:nvSpPr>
        <p:spPr>
          <a:xfrm>
            <a:off x="6323076" y="1783080"/>
            <a:ext cx="5225796" cy="36576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Important adaptation</a:t>
            </a:r>
            <a:endParaRPr lang="en-US" sz="1600" dirty="0"/>
          </a:p>
        </p:txBody>
      </p:sp>
      <p:sp>
        <p:nvSpPr>
          <p:cNvPr id="7" name="Text 5"/>
          <p:cNvSpPr txBox="1"/>
          <p:nvPr/>
        </p:nvSpPr>
        <p:spPr>
          <a:xfrm>
            <a:off x="6323076" y="2194560"/>
            <a:ext cx="5225796" cy="3108960"/>
          </a:xfrm>
          <a:prstGeom prst="rect">
            <a:avLst/>
          </a:prstGeom>
          <a:noFill/>
          <a:ln/>
        </p:spPr>
        <p:txBody>
          <a:bodyPr wrap="square" lIns="0" tIns="0" rIns="0" bIns="0" rtlCol="0" anchor="t"/>
          <a:lstStyle/>
          <a:p>
            <a:pPr indent="0" marL="0">
              <a:lnSpc>
                <a:spcPct val="120000"/>
              </a:lnSpc>
              <a:buNone/>
            </a:pPr>
            <a:r>
              <a:rPr lang="en-US" sz="1350" dirty="0">
                <a:solidFill>
                  <a:srgbClr val="333333"/>
                </a:solidFill>
                <a:latin typeface="Calibri" pitchFamily="34" charset="0"/>
                <a:ea typeface="Calibri" pitchFamily="34" charset="-122"/>
                <a:cs typeface="Calibri" pitchFamily="34" charset="-120"/>
              </a:rPr>
              <a:t>The dataset represents large-scale retail transaction data rather than online-only e-commerce events. For OmniPulse, we will map its transaction/customer/product fields into the project schema and generate or derive additional fields where required for streaming and fraud experiments. This will let the project preserve the Big Data architecture while using a credible 4.3 GB source.</a:t>
            </a:r>
            <a:endParaRPr lang="en-US" sz="1350" dirty="0"/>
          </a:p>
        </p:txBody>
      </p:sp>
      <p:sp>
        <p:nvSpPr>
          <p:cNvPr id="8" name="Text 6"/>
          <p:cNvSpPr txBox="1"/>
          <p:nvPr/>
        </p:nvSpPr>
        <p:spPr>
          <a:xfrm>
            <a:off x="640080" y="6172200"/>
            <a:ext cx="10908792" cy="274320"/>
          </a:xfrm>
          <a:prstGeom prst="rect">
            <a:avLst/>
          </a:prstGeom>
          <a:noFill/>
          <a:ln/>
        </p:spPr>
        <p:txBody>
          <a:bodyPr wrap="square" lIns="0" tIns="0" rIns="0" bIns="0" rtlCol="0" anchor="ctr"/>
          <a:lstStyle/>
          <a:p>
            <a:pPr indent="0" marL="0">
              <a:buNone/>
            </a:pPr>
            <a:r>
              <a:rPr lang="en-US" sz="1100" dirty="0">
                <a:solidFill>
                  <a:srgbClr val="5A5A5A"/>
                </a:solidFill>
                <a:latin typeface="Calibri" pitchFamily="34" charset="0"/>
                <a:ea typeface="Calibri" pitchFamily="34" charset="-122"/>
                <a:cs typeface="Calibri" pitchFamily="34" charset="-120"/>
              </a:rPr>
              <a:t>Official dataset: </a:t>
            </a:r>
            <a:pPr indent="0" marL="0">
              <a:buNone/>
            </a:pPr>
            <a:r>
              <a:rPr lang="en-US" sz="1100" u="sng" dirty="0">
                <a:solidFill>
                  <a:srgbClr val="1155CC"/>
                </a:solidFill>
                <a:latin typeface="Calibri" pitchFamily="34" charset="0"/>
                <a:ea typeface="Calibri" pitchFamily="34" charset="-122"/>
                <a:cs typeface="Calibri" pitchFamily="34" charset="-120"/>
              </a:rPr>
              <a:t>https://www.dunnhumby.com/source-files/</a:t>
            </a:r>
            <a:endParaRPr lang="en-US" sz="1100" dirty="0"/>
          </a:p>
        </p:txBody>
      </p:sp>
      <p:sp>
        <p:nvSpPr>
          <p:cNvPr id="9" name="Text 7"/>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4. Proposed Solution Architecture</a:t>
            </a:r>
            <a:endParaRPr lang="en-US" sz="2600" dirty="0"/>
          </a:p>
        </p:txBody>
      </p:sp>
      <p:sp>
        <p:nvSpPr>
          <p:cNvPr id="3" name="Shape 1"/>
          <p:cNvSpPr/>
          <p:nvPr/>
        </p:nvSpPr>
        <p:spPr>
          <a:xfrm>
            <a:off x="640080" y="1737360"/>
            <a:ext cx="1965960" cy="1188720"/>
          </a:xfrm>
          <a:prstGeom prst="rect">
            <a:avLst/>
          </a:prstGeom>
          <a:solidFill>
            <a:srgbClr val="FFFFFF"/>
          </a:solidFill>
          <a:ln w="12700">
            <a:solidFill>
              <a:srgbClr val="BFBFBF"/>
            </a:solidFill>
            <a:prstDash val="solid"/>
          </a:ln>
        </p:spPr>
      </p:sp>
      <p:sp>
        <p:nvSpPr>
          <p:cNvPr id="4" name="Text 2"/>
          <p:cNvSpPr txBox="1"/>
          <p:nvPr/>
        </p:nvSpPr>
        <p:spPr>
          <a:xfrm>
            <a:off x="685800" y="1783080"/>
            <a:ext cx="1874520" cy="1097280"/>
          </a:xfrm>
          <a:prstGeom prst="rect">
            <a:avLst/>
          </a:prstGeom>
          <a:noFill/>
          <a:ln/>
        </p:spPr>
        <p:txBody>
          <a:bodyPr wrap="square" lIns="0" tIns="0" rIns="0" bIns="0" rtlCol="0" anchor="ctr"/>
          <a:lstStyle/>
          <a:p>
            <a:pPr algn="ctr" indent="0" marL="0">
              <a:buNone/>
            </a:pPr>
            <a:r>
              <a:rPr lang="en-US" sz="1250" b="1" dirty="0">
                <a:solidFill>
                  <a:srgbClr val="1F3864"/>
                </a:solidFill>
                <a:latin typeface="Calibri" pitchFamily="34" charset="0"/>
                <a:ea typeface="Calibri" pitchFamily="34" charset="-122"/>
                <a:cs typeface="Calibri" pitchFamily="34" charset="-120"/>
              </a:rPr>
              <a:t>Raw Transaction Data</a:t>
            </a:r>
            <a:endParaRPr lang="en-US" sz="1250" dirty="0"/>
          </a:p>
          <a:p>
            <a:pPr algn="ctr" indent="0" marL="0">
              <a:buNone/>
            </a:pPr>
            <a:r>
              <a:rPr lang="en-US" sz="950" dirty="0">
                <a:solidFill>
                  <a:srgbClr val="333333"/>
                </a:solidFill>
                <a:latin typeface="Calibri" pitchFamily="34" charset="0"/>
                <a:ea typeface="Calibri" pitchFamily="34" charset="-122"/>
                <a:cs typeface="Calibri" pitchFamily="34" charset="-120"/>
              </a:rPr>
              <a:t>4.3 GB+ source /</a:t>
            </a:r>
            <a:endParaRPr lang="en-US" sz="1250" dirty="0"/>
          </a:p>
          <a:p>
            <a:pPr algn="ctr" indent="0" marL="0">
              <a:buNone/>
            </a:pPr>
            <a:r>
              <a:rPr lang="en-US" sz="950" dirty="0">
                <a:solidFill>
                  <a:srgbClr val="333333"/>
                </a:solidFill>
                <a:latin typeface="Calibri" pitchFamily="34" charset="0"/>
                <a:ea typeface="Calibri" pitchFamily="34" charset="-122"/>
                <a:cs typeface="Calibri" pitchFamily="34" charset="-120"/>
              </a:rPr>
              <a:t>generated event stream</a:t>
            </a:r>
            <a:endParaRPr lang="en-US" sz="1250" dirty="0"/>
          </a:p>
        </p:txBody>
      </p:sp>
      <p:sp>
        <p:nvSpPr>
          <p:cNvPr id="5" name="Shape 3"/>
          <p:cNvSpPr/>
          <p:nvPr/>
        </p:nvSpPr>
        <p:spPr>
          <a:xfrm>
            <a:off x="2606040" y="2331720"/>
            <a:ext cx="269748" cy="0"/>
          </a:xfrm>
          <a:prstGeom prst="line">
            <a:avLst/>
          </a:prstGeom>
          <a:noFill/>
          <a:ln w="15875">
            <a:solidFill>
              <a:srgbClr val="BFBFBF"/>
            </a:solidFill>
            <a:prstDash val="solid"/>
            <a:tailEnd type="triangle"/>
          </a:ln>
        </p:spPr>
      </p:sp>
      <p:sp>
        <p:nvSpPr>
          <p:cNvPr id="6" name="Shape 4"/>
          <p:cNvSpPr/>
          <p:nvPr/>
        </p:nvSpPr>
        <p:spPr>
          <a:xfrm>
            <a:off x="2875788" y="1737360"/>
            <a:ext cx="1965960" cy="1188720"/>
          </a:xfrm>
          <a:prstGeom prst="rect">
            <a:avLst/>
          </a:prstGeom>
          <a:solidFill>
            <a:srgbClr val="FFFFFF"/>
          </a:solidFill>
          <a:ln w="12700">
            <a:solidFill>
              <a:srgbClr val="BFBFBF"/>
            </a:solidFill>
            <a:prstDash val="solid"/>
          </a:ln>
        </p:spPr>
      </p:sp>
      <p:sp>
        <p:nvSpPr>
          <p:cNvPr id="7" name="Text 5"/>
          <p:cNvSpPr txBox="1"/>
          <p:nvPr/>
        </p:nvSpPr>
        <p:spPr>
          <a:xfrm>
            <a:off x="2921508" y="1783080"/>
            <a:ext cx="1874520" cy="1097280"/>
          </a:xfrm>
          <a:prstGeom prst="rect">
            <a:avLst/>
          </a:prstGeom>
          <a:noFill/>
          <a:ln/>
        </p:spPr>
        <p:txBody>
          <a:bodyPr wrap="square" lIns="0" tIns="0" rIns="0" bIns="0" rtlCol="0" anchor="ctr"/>
          <a:lstStyle/>
          <a:p>
            <a:pPr algn="ctr" indent="0" marL="0">
              <a:buNone/>
            </a:pPr>
            <a:r>
              <a:rPr lang="en-US" sz="1250" b="1" dirty="0">
                <a:solidFill>
                  <a:srgbClr val="1F3864"/>
                </a:solidFill>
                <a:latin typeface="Calibri" pitchFamily="34" charset="0"/>
                <a:ea typeface="Calibri" pitchFamily="34" charset="-122"/>
                <a:cs typeface="Calibri" pitchFamily="34" charset="-120"/>
              </a:rPr>
              <a:t>HDFS</a:t>
            </a:r>
            <a:endParaRPr lang="en-US" sz="1250" dirty="0"/>
          </a:p>
          <a:p>
            <a:pPr algn="ctr" indent="0" marL="0">
              <a:buNone/>
            </a:pPr>
            <a:r>
              <a:rPr lang="en-US" sz="950" dirty="0">
                <a:solidFill>
                  <a:srgbClr val="333333"/>
                </a:solidFill>
                <a:latin typeface="Calibri" pitchFamily="34" charset="0"/>
                <a:ea typeface="Calibri" pitchFamily="34" charset="-122"/>
                <a:cs typeface="Calibri" pitchFamily="34" charset="-120"/>
              </a:rPr>
              <a:t>Distributed storage</a:t>
            </a:r>
            <a:endParaRPr lang="en-US" sz="1250" dirty="0"/>
          </a:p>
          <a:p>
            <a:pPr algn="ctr" indent="0" marL="0">
              <a:buNone/>
            </a:pPr>
            <a:r>
              <a:rPr lang="en-US" sz="950" dirty="0">
                <a:solidFill>
                  <a:srgbClr val="333333"/>
                </a:solidFill>
                <a:latin typeface="Calibri" pitchFamily="34" charset="0"/>
                <a:ea typeface="Calibri" pitchFamily="34" charset="-122"/>
                <a:cs typeface="Calibri" pitchFamily="34" charset="-120"/>
              </a:rPr>
              <a:t>Replication + blocks</a:t>
            </a:r>
            <a:endParaRPr lang="en-US" sz="1250" dirty="0"/>
          </a:p>
        </p:txBody>
      </p:sp>
      <p:sp>
        <p:nvSpPr>
          <p:cNvPr id="8" name="Shape 6"/>
          <p:cNvSpPr/>
          <p:nvPr/>
        </p:nvSpPr>
        <p:spPr>
          <a:xfrm>
            <a:off x="4841748" y="2331720"/>
            <a:ext cx="269748" cy="0"/>
          </a:xfrm>
          <a:prstGeom prst="line">
            <a:avLst/>
          </a:prstGeom>
          <a:noFill/>
          <a:ln w="15875">
            <a:solidFill>
              <a:srgbClr val="BFBFBF"/>
            </a:solidFill>
            <a:prstDash val="solid"/>
            <a:tailEnd type="triangle"/>
          </a:ln>
        </p:spPr>
      </p:sp>
      <p:sp>
        <p:nvSpPr>
          <p:cNvPr id="9" name="Shape 7"/>
          <p:cNvSpPr/>
          <p:nvPr/>
        </p:nvSpPr>
        <p:spPr>
          <a:xfrm>
            <a:off x="5111496" y="1737360"/>
            <a:ext cx="1965960" cy="1188720"/>
          </a:xfrm>
          <a:prstGeom prst="rect">
            <a:avLst/>
          </a:prstGeom>
          <a:solidFill>
            <a:srgbClr val="FFFFFF"/>
          </a:solidFill>
          <a:ln w="12700">
            <a:solidFill>
              <a:srgbClr val="BFBFBF"/>
            </a:solidFill>
            <a:prstDash val="solid"/>
          </a:ln>
        </p:spPr>
      </p:sp>
      <p:sp>
        <p:nvSpPr>
          <p:cNvPr id="10" name="Text 8"/>
          <p:cNvSpPr txBox="1"/>
          <p:nvPr/>
        </p:nvSpPr>
        <p:spPr>
          <a:xfrm>
            <a:off x="5157216" y="1783080"/>
            <a:ext cx="1874520" cy="1097280"/>
          </a:xfrm>
          <a:prstGeom prst="rect">
            <a:avLst/>
          </a:prstGeom>
          <a:noFill/>
          <a:ln/>
        </p:spPr>
        <p:txBody>
          <a:bodyPr wrap="square" lIns="0" tIns="0" rIns="0" bIns="0" rtlCol="0" anchor="ctr"/>
          <a:lstStyle/>
          <a:p>
            <a:pPr algn="ctr" indent="0" marL="0">
              <a:buNone/>
            </a:pPr>
            <a:r>
              <a:rPr lang="en-US" sz="1250" b="1" dirty="0">
                <a:solidFill>
                  <a:srgbClr val="1F3864"/>
                </a:solidFill>
                <a:latin typeface="Calibri" pitchFamily="34" charset="0"/>
                <a:ea typeface="Calibri" pitchFamily="34" charset="-122"/>
                <a:cs typeface="Calibri" pitchFamily="34" charset="-120"/>
              </a:rPr>
              <a:t>Processing Layer</a:t>
            </a:r>
            <a:endParaRPr lang="en-US" sz="1250" dirty="0"/>
          </a:p>
          <a:p>
            <a:pPr algn="ctr" indent="0" marL="0">
              <a:buNone/>
            </a:pPr>
            <a:r>
              <a:rPr lang="en-US" sz="950" dirty="0">
                <a:solidFill>
                  <a:srgbClr val="333333"/>
                </a:solidFill>
                <a:latin typeface="Calibri" pitchFamily="34" charset="0"/>
                <a:ea typeface="Calibri" pitchFamily="34" charset="-122"/>
                <a:cs typeface="Calibri" pitchFamily="34" charset="-120"/>
              </a:rPr>
              <a:t>MapReduce • Spark</a:t>
            </a:r>
            <a:endParaRPr lang="en-US" sz="1250" dirty="0"/>
          </a:p>
          <a:p>
            <a:pPr algn="ctr" indent="0" marL="0">
              <a:buNone/>
            </a:pPr>
            <a:r>
              <a:rPr lang="en-US" sz="950" dirty="0">
                <a:solidFill>
                  <a:srgbClr val="333333"/>
                </a:solidFill>
                <a:latin typeface="Calibri" pitchFamily="34" charset="0"/>
                <a:ea typeface="Calibri" pitchFamily="34" charset="-122"/>
                <a:cs typeface="Calibri" pitchFamily="34" charset="-120"/>
              </a:rPr>
              <a:t>Streaming • Hive</a:t>
            </a:r>
            <a:endParaRPr lang="en-US" sz="1250" dirty="0"/>
          </a:p>
        </p:txBody>
      </p:sp>
      <p:sp>
        <p:nvSpPr>
          <p:cNvPr id="11" name="Shape 9"/>
          <p:cNvSpPr/>
          <p:nvPr/>
        </p:nvSpPr>
        <p:spPr>
          <a:xfrm>
            <a:off x="7077456" y="2331720"/>
            <a:ext cx="269748" cy="0"/>
          </a:xfrm>
          <a:prstGeom prst="line">
            <a:avLst/>
          </a:prstGeom>
          <a:noFill/>
          <a:ln w="15875">
            <a:solidFill>
              <a:srgbClr val="BFBFBF"/>
            </a:solidFill>
            <a:prstDash val="solid"/>
            <a:tailEnd type="triangle"/>
          </a:ln>
        </p:spPr>
      </p:sp>
      <p:sp>
        <p:nvSpPr>
          <p:cNvPr id="12" name="Shape 10"/>
          <p:cNvSpPr/>
          <p:nvPr/>
        </p:nvSpPr>
        <p:spPr>
          <a:xfrm>
            <a:off x="7347204" y="1737360"/>
            <a:ext cx="1965960" cy="1188720"/>
          </a:xfrm>
          <a:prstGeom prst="rect">
            <a:avLst/>
          </a:prstGeom>
          <a:solidFill>
            <a:srgbClr val="FFFFFF"/>
          </a:solidFill>
          <a:ln w="12700">
            <a:solidFill>
              <a:srgbClr val="BFBFBF"/>
            </a:solidFill>
            <a:prstDash val="solid"/>
          </a:ln>
        </p:spPr>
      </p:sp>
      <p:sp>
        <p:nvSpPr>
          <p:cNvPr id="13" name="Text 11"/>
          <p:cNvSpPr txBox="1"/>
          <p:nvPr/>
        </p:nvSpPr>
        <p:spPr>
          <a:xfrm>
            <a:off x="7392924" y="1783080"/>
            <a:ext cx="1874520" cy="1097280"/>
          </a:xfrm>
          <a:prstGeom prst="rect">
            <a:avLst/>
          </a:prstGeom>
          <a:noFill/>
          <a:ln/>
        </p:spPr>
        <p:txBody>
          <a:bodyPr wrap="square" lIns="0" tIns="0" rIns="0" bIns="0" rtlCol="0" anchor="ctr"/>
          <a:lstStyle/>
          <a:p>
            <a:pPr algn="ctr" indent="0" marL="0">
              <a:buNone/>
            </a:pPr>
            <a:r>
              <a:rPr lang="en-US" sz="1250" b="1" dirty="0">
                <a:solidFill>
                  <a:srgbClr val="1F3864"/>
                </a:solidFill>
                <a:latin typeface="Calibri" pitchFamily="34" charset="0"/>
                <a:ea typeface="Calibri" pitchFamily="34" charset="-122"/>
                <a:cs typeface="Calibri" pitchFamily="34" charset="-120"/>
              </a:rPr>
              <a:t>Data Stores</a:t>
            </a:r>
            <a:endParaRPr lang="en-US" sz="1250" dirty="0"/>
          </a:p>
          <a:p>
            <a:pPr algn="ctr" indent="0" marL="0">
              <a:buNone/>
            </a:pPr>
            <a:r>
              <a:rPr lang="en-US" sz="950" dirty="0">
                <a:solidFill>
                  <a:srgbClr val="333333"/>
                </a:solidFill>
                <a:latin typeface="Calibri" pitchFamily="34" charset="0"/>
                <a:ea typeface="Calibri" pitchFamily="34" charset="-122"/>
                <a:cs typeface="Calibri" pitchFamily="34" charset="-120"/>
              </a:rPr>
              <a:t>MongoDB +</a:t>
            </a:r>
            <a:endParaRPr lang="en-US" sz="1250" dirty="0"/>
          </a:p>
          <a:p>
            <a:pPr algn="ctr" indent="0" marL="0">
              <a:buNone/>
            </a:pPr>
            <a:r>
              <a:rPr lang="en-US" sz="950" dirty="0">
                <a:solidFill>
                  <a:srgbClr val="333333"/>
                </a:solidFill>
                <a:latin typeface="Calibri" pitchFamily="34" charset="0"/>
                <a:ea typeface="Calibri" pitchFamily="34" charset="-122"/>
                <a:cs typeface="Calibri" pitchFamily="34" charset="-120"/>
              </a:rPr>
              <a:t>Hive tables</a:t>
            </a:r>
            <a:endParaRPr lang="en-US" sz="1250" dirty="0"/>
          </a:p>
        </p:txBody>
      </p:sp>
      <p:sp>
        <p:nvSpPr>
          <p:cNvPr id="14" name="Shape 12"/>
          <p:cNvSpPr/>
          <p:nvPr/>
        </p:nvSpPr>
        <p:spPr>
          <a:xfrm>
            <a:off x="9313164" y="2331720"/>
            <a:ext cx="269748" cy="0"/>
          </a:xfrm>
          <a:prstGeom prst="line">
            <a:avLst/>
          </a:prstGeom>
          <a:noFill/>
          <a:ln w="15875">
            <a:solidFill>
              <a:srgbClr val="BFBFBF"/>
            </a:solidFill>
            <a:prstDash val="solid"/>
            <a:tailEnd type="triangle"/>
          </a:ln>
        </p:spPr>
      </p:sp>
      <p:sp>
        <p:nvSpPr>
          <p:cNvPr id="15" name="Shape 13"/>
          <p:cNvSpPr/>
          <p:nvPr/>
        </p:nvSpPr>
        <p:spPr>
          <a:xfrm>
            <a:off x="9582912" y="1737360"/>
            <a:ext cx="1965960" cy="1188720"/>
          </a:xfrm>
          <a:prstGeom prst="rect">
            <a:avLst/>
          </a:prstGeom>
          <a:solidFill>
            <a:srgbClr val="FFFFFF"/>
          </a:solidFill>
          <a:ln w="12700">
            <a:solidFill>
              <a:srgbClr val="BFBFBF"/>
            </a:solidFill>
            <a:prstDash val="solid"/>
          </a:ln>
        </p:spPr>
      </p:sp>
      <p:sp>
        <p:nvSpPr>
          <p:cNvPr id="16" name="Text 14"/>
          <p:cNvSpPr txBox="1"/>
          <p:nvPr/>
        </p:nvSpPr>
        <p:spPr>
          <a:xfrm>
            <a:off x="9628632" y="1783080"/>
            <a:ext cx="1874520" cy="1097280"/>
          </a:xfrm>
          <a:prstGeom prst="rect">
            <a:avLst/>
          </a:prstGeom>
          <a:noFill/>
          <a:ln/>
        </p:spPr>
        <p:txBody>
          <a:bodyPr wrap="square" lIns="0" tIns="0" rIns="0" bIns="0" rtlCol="0" anchor="ctr"/>
          <a:lstStyle/>
          <a:p>
            <a:pPr algn="ctr" indent="0" marL="0">
              <a:buNone/>
            </a:pPr>
            <a:r>
              <a:rPr lang="en-US" sz="1250" b="1" dirty="0">
                <a:solidFill>
                  <a:srgbClr val="1F3864"/>
                </a:solidFill>
                <a:latin typeface="Calibri" pitchFamily="34" charset="0"/>
                <a:ea typeface="Calibri" pitchFamily="34" charset="-122"/>
                <a:cs typeface="Calibri" pitchFamily="34" charset="-120"/>
              </a:rPr>
              <a:t>ML Layer</a:t>
            </a:r>
            <a:endParaRPr lang="en-US" sz="1250" dirty="0"/>
          </a:p>
          <a:p>
            <a:pPr algn="ctr" indent="0" marL="0">
              <a:buNone/>
            </a:pPr>
            <a:r>
              <a:rPr lang="en-US" sz="950" dirty="0">
                <a:solidFill>
                  <a:srgbClr val="333333"/>
                </a:solidFill>
                <a:latin typeface="Calibri" pitchFamily="34" charset="0"/>
                <a:ea typeface="Calibri" pitchFamily="34" charset="-122"/>
                <a:cs typeface="Calibri" pitchFamily="34" charset="-120"/>
              </a:rPr>
              <a:t>K-Means +</a:t>
            </a:r>
            <a:endParaRPr lang="en-US" sz="1250" dirty="0"/>
          </a:p>
          <a:p>
            <a:pPr algn="ctr" indent="0" marL="0">
              <a:buNone/>
            </a:pPr>
            <a:r>
              <a:rPr lang="en-US" sz="950" dirty="0">
                <a:solidFill>
                  <a:srgbClr val="333333"/>
                </a:solidFill>
                <a:latin typeface="Calibri" pitchFamily="34" charset="0"/>
                <a:ea typeface="Calibri" pitchFamily="34" charset="-122"/>
                <a:cs typeface="Calibri" pitchFamily="34" charset="-120"/>
              </a:rPr>
              <a:t>Random Forest</a:t>
            </a:r>
            <a:endParaRPr lang="en-US" sz="1250" dirty="0"/>
          </a:p>
        </p:txBody>
      </p:sp>
      <p:sp>
        <p:nvSpPr>
          <p:cNvPr id="17" name="Shape 15"/>
          <p:cNvSpPr/>
          <p:nvPr/>
        </p:nvSpPr>
        <p:spPr>
          <a:xfrm>
            <a:off x="6094476" y="2926080"/>
            <a:ext cx="0" cy="1005840"/>
          </a:xfrm>
          <a:prstGeom prst="line">
            <a:avLst/>
          </a:prstGeom>
          <a:noFill/>
          <a:ln w="15875">
            <a:solidFill>
              <a:srgbClr val="BFBFBF"/>
            </a:solidFill>
            <a:prstDash val="solid"/>
            <a:tailEnd type="triangle"/>
          </a:ln>
        </p:spPr>
      </p:sp>
      <p:sp>
        <p:nvSpPr>
          <p:cNvPr id="18" name="Shape 16"/>
          <p:cNvSpPr/>
          <p:nvPr/>
        </p:nvSpPr>
        <p:spPr>
          <a:xfrm>
            <a:off x="4631436" y="3931920"/>
            <a:ext cx="2926080" cy="822960"/>
          </a:xfrm>
          <a:prstGeom prst="rect">
            <a:avLst/>
          </a:prstGeom>
          <a:solidFill>
            <a:srgbClr val="FFFFFF"/>
          </a:solidFill>
          <a:ln w="12700">
            <a:solidFill>
              <a:srgbClr val="BFBFBF"/>
            </a:solidFill>
            <a:prstDash val="solid"/>
          </a:ln>
        </p:spPr>
      </p:sp>
      <p:sp>
        <p:nvSpPr>
          <p:cNvPr id="19" name="Text 17"/>
          <p:cNvSpPr txBox="1"/>
          <p:nvPr/>
        </p:nvSpPr>
        <p:spPr>
          <a:xfrm>
            <a:off x="4631436" y="3931920"/>
            <a:ext cx="2926080" cy="822960"/>
          </a:xfrm>
          <a:prstGeom prst="rect">
            <a:avLst/>
          </a:prstGeom>
          <a:noFill/>
          <a:ln/>
        </p:spPr>
        <p:txBody>
          <a:bodyPr wrap="square" lIns="0" tIns="0" rIns="0" bIns="0"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Dashboard</a:t>
            </a:r>
            <a:endParaRPr lang="en-US" sz="1300" dirty="0"/>
          </a:p>
          <a:p>
            <a:pPr algn="ctr" indent="0" marL="0">
              <a:buNone/>
            </a:pPr>
            <a:r>
              <a:rPr lang="en-US" sz="1000" dirty="0">
                <a:solidFill>
                  <a:srgbClr val="333333"/>
                </a:solidFill>
                <a:latin typeface="Calibri" pitchFamily="34" charset="0"/>
                <a:ea typeface="Calibri" pitchFamily="34" charset="-122"/>
                <a:cs typeface="Calibri" pitchFamily="34" charset="-120"/>
              </a:rPr>
              <a:t>Streamlit business insights</a:t>
            </a:r>
            <a:endParaRPr lang="en-US" sz="1300" dirty="0"/>
          </a:p>
        </p:txBody>
      </p:sp>
      <p:sp>
        <p:nvSpPr>
          <p:cNvPr id="20" name="Text 18"/>
          <p:cNvSpPr txBox="1"/>
          <p:nvPr/>
        </p:nvSpPr>
        <p:spPr>
          <a:xfrm>
            <a:off x="640080" y="5166360"/>
            <a:ext cx="10908792" cy="548640"/>
          </a:xfrm>
          <a:prstGeom prst="rect">
            <a:avLst/>
          </a:prstGeom>
          <a:noFill/>
          <a:ln/>
        </p:spPr>
        <p:txBody>
          <a:bodyPr wrap="square" lIns="0" tIns="0" rIns="0" bIns="0" rtlCol="0" anchor="ctr"/>
          <a:lstStyle/>
          <a:p>
            <a:pPr algn="ctr" indent="0" marL="0">
              <a:buNone/>
            </a:pPr>
            <a:r>
              <a:rPr lang="en-US" sz="1300" dirty="0">
                <a:solidFill>
                  <a:srgbClr val="5A5A5A"/>
                </a:solidFill>
                <a:latin typeface="Calibri" pitchFamily="34" charset="0"/>
                <a:ea typeface="Calibri" pitchFamily="34" charset="-122"/>
                <a:cs typeface="Calibri" pitchFamily="34" charset="-120"/>
              </a:rPr>
              <a:t>The final design will combine batch analytics, real-time analytics, persistent storage, machine learning and visualization.</a:t>
            </a:r>
            <a:endParaRPr lang="en-US" sz="1300" dirty="0"/>
          </a:p>
        </p:txBody>
      </p:sp>
      <p:sp>
        <p:nvSpPr>
          <p:cNvPr id="21" name="Text 19"/>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5. Data Engineering &amp; HDFS Plan</a:t>
            </a:r>
            <a:endParaRPr lang="en-US" sz="2600" dirty="0"/>
          </a:p>
        </p:txBody>
      </p:sp>
      <p:sp>
        <p:nvSpPr>
          <p:cNvPr id="3" name="Text 1"/>
          <p:cNvSpPr txBox="1"/>
          <p:nvPr/>
        </p:nvSpPr>
        <p:spPr>
          <a:xfrm>
            <a:off x="640080" y="1554480"/>
            <a:ext cx="10908792" cy="47548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600" dirty="0">
                <a:solidFill>
                  <a:srgbClr val="333333"/>
                </a:solidFill>
                <a:latin typeface="Calibri" pitchFamily="34" charset="0"/>
                <a:ea typeface="Calibri" pitchFamily="34" charset="-122"/>
                <a:cs typeface="Calibri" pitchFamily="34" charset="-120"/>
              </a:rPr>
              <a:t>A preprocessing stage will clean, normalize and partition the source transactions.</a:t>
            </a:r>
            <a:endParaRPr lang="en-US" sz="1600" dirty="0"/>
          </a:p>
          <a:p>
            <a:pPr marL="228600" indent="-228600">
              <a:lnSpc>
                <a:spcPct val="115000"/>
              </a:lnSpc>
              <a:spcAft>
                <a:spcPts val="1200"/>
              </a:spcAft>
              <a:buSzPct val="100000"/>
              <a:buChar char="•"/>
            </a:pPr>
            <a:r>
              <a:rPr lang="en-US" sz="1600" dirty="0">
                <a:solidFill>
                  <a:srgbClr val="333333"/>
                </a:solidFill>
                <a:latin typeface="Calibri" pitchFamily="34" charset="0"/>
                <a:ea typeface="Calibri" pitchFamily="34" charset="-122"/>
                <a:cs typeface="Calibri" pitchFamily="34" charset="-120"/>
              </a:rPr>
              <a:t>The workload will be loaded into HDFS and tested under multiple storage configurations.</a:t>
            </a:r>
            <a:endParaRPr lang="en-US" sz="1600" dirty="0"/>
          </a:p>
          <a:p>
            <a:pPr marL="228600" indent="-228600">
              <a:lnSpc>
                <a:spcPct val="115000"/>
              </a:lnSpc>
              <a:spcAft>
                <a:spcPts val="1200"/>
              </a:spcAft>
              <a:buSzPct val="100000"/>
              <a:buChar char="•"/>
            </a:pPr>
            <a:r>
              <a:rPr lang="en-US" sz="1600" dirty="0">
                <a:solidFill>
                  <a:srgbClr val="333333"/>
                </a:solidFill>
                <a:latin typeface="Calibri" pitchFamily="34" charset="0"/>
                <a:ea typeface="Calibri" pitchFamily="34" charset="-122"/>
                <a:cs typeface="Calibri" pitchFamily="34" charset="-120"/>
              </a:rPr>
              <a:t>Replication factors to compare: 1, 2 and 3.</a:t>
            </a:r>
            <a:endParaRPr lang="en-US" sz="1600" dirty="0"/>
          </a:p>
          <a:p>
            <a:pPr marL="228600" indent="-228600">
              <a:lnSpc>
                <a:spcPct val="115000"/>
              </a:lnSpc>
              <a:spcAft>
                <a:spcPts val="1200"/>
              </a:spcAft>
              <a:buSzPct val="100000"/>
              <a:buChar char="•"/>
            </a:pPr>
            <a:r>
              <a:rPr lang="en-US" sz="1600" dirty="0">
                <a:solidFill>
                  <a:srgbClr val="333333"/>
                </a:solidFill>
                <a:latin typeface="Calibri" pitchFamily="34" charset="0"/>
                <a:ea typeface="Calibri" pitchFamily="34" charset="-122"/>
                <a:cs typeface="Calibri" pitchFamily="34" charset="-120"/>
              </a:rPr>
              <a:t>Block sizes to compare: 64 MB, 128 MB and 256 MB.</a:t>
            </a:r>
            <a:endParaRPr lang="en-US" sz="1600" dirty="0"/>
          </a:p>
          <a:p>
            <a:pPr marL="228600" indent="-228600">
              <a:lnSpc>
                <a:spcPct val="115000"/>
              </a:lnSpc>
              <a:spcAft>
                <a:spcPts val="1200"/>
              </a:spcAft>
              <a:buSzPct val="100000"/>
              <a:buChar char="•"/>
            </a:pPr>
            <a:r>
              <a:rPr lang="en-US" sz="1600" dirty="0">
                <a:solidFill>
                  <a:srgbClr val="333333"/>
                </a:solidFill>
                <a:latin typeface="Calibri" pitchFamily="34" charset="0"/>
                <a:ea typeface="Calibri" pitchFamily="34" charset="-122"/>
                <a:cs typeface="Calibri" pitchFamily="34" charset="-120"/>
              </a:rPr>
              <a:t>Read/write throughput, storage overhead and execution time will be recorded for each configuration.</a:t>
            </a:r>
            <a:endParaRPr lang="en-US" sz="1600" dirty="0"/>
          </a:p>
          <a:p>
            <a:pPr marL="228600" indent="-228600">
              <a:lnSpc>
                <a:spcPct val="115000"/>
              </a:lnSpc>
              <a:spcAft>
                <a:spcPts val="1200"/>
              </a:spcAft>
              <a:buSzPct val="100000"/>
              <a:buChar char="•"/>
            </a:pPr>
            <a:r>
              <a:rPr lang="en-US" sz="1600" dirty="0">
                <a:solidFill>
                  <a:srgbClr val="333333"/>
                </a:solidFill>
                <a:latin typeface="Calibri" pitchFamily="34" charset="0"/>
                <a:ea typeface="Calibri" pitchFamily="34" charset="-122"/>
                <a:cs typeface="Calibri" pitchFamily="34" charset="-120"/>
              </a:rPr>
              <a:t>The results will be used to identify a practical configuration for the project workload.</a:t>
            </a:r>
            <a:endParaRPr lang="en-US" sz="1600" dirty="0"/>
          </a:p>
        </p:txBody>
      </p:sp>
      <p:sp>
        <p:nvSpPr>
          <p:cNvPr id="4" name="Text 2"/>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6. NoSQL Layer — MongoDB</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3636264"/>
                <a:gridCol w="3636264"/>
                <a:gridCol w="3636264"/>
              </a:tblGrid>
              <a:tr h="457200">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Schema Design</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Operations</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Scale &amp; Reliability</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3291840">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Transaction documents will embed frequently accessed details to reduce joins. Customer profiles will use pre-aggregated/materialized information for fast reads.</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CRUD operations will support transaction workflows. Indexes will be designed for common filters and lookup patterns. Aggregation pipelines will replace multi-table SQL-style joins.</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Horizontal sharding will be used to distribute data. Replica sets will provide redundancy and availability. Benchmarking will compare read/write behavior under different workloads.</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7. Batch Analytics — Hadoop MapReduce</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3636264"/>
                <a:gridCol w="3636264"/>
                <a:gridCol w="3636264"/>
              </a:tblGrid>
              <a:tr h="457200">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Revenue Analysis</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Customer RFM</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Fraud Anomalies</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3291840">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Mapper will emit category keys and transaction values. Reducer will aggregate total revenue by product category. Output will support category-level business analysis.</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Mapper will prepare customer-level purchase information. Reducer will calculate Recency, Frequency and Monetary measures. RFM scores will feed customer segmentation.</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MapReduce will identify suspicious payment patterns from historical transactions. The output will provide a baseline for comparison with streaming fraud detection and ML.</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8. Real-Time Analytics — Spark Streaming</a:t>
            </a:r>
            <a:endParaRPr lang="en-US" sz="2600" dirty="0"/>
          </a:p>
        </p:txBody>
      </p:sp>
      <p:sp>
        <p:nvSpPr>
          <p:cNvPr id="3" name="Text 1"/>
          <p:cNvSpPr txBox="1"/>
          <p:nvPr/>
        </p:nvSpPr>
        <p:spPr>
          <a:xfrm>
            <a:off x="640080" y="1554480"/>
            <a:ext cx="10908792" cy="47548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A transaction producer will continuously send events through a socket-based stream.</a:t>
            </a:r>
            <a:endParaRPr lang="en-US" sz="1550" dirty="0"/>
          </a:p>
          <a:p>
            <a:pPr marL="228600" indent="-228600">
              <a:lnSpc>
                <a:spcPct val="11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PySpark Streaming will consume the events and compute near-real-time fraud indicators.</a:t>
            </a:r>
            <a:endParaRPr lang="en-US" sz="1550" dirty="0"/>
          </a:p>
          <a:p>
            <a:pPr marL="228600" indent="-228600">
              <a:lnSpc>
                <a:spcPct val="11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Tumbling windows will process non-overlapping intervals and emphasize simpler, lower-overlap processing.</a:t>
            </a:r>
            <a:endParaRPr lang="en-US" sz="1550" dirty="0"/>
          </a:p>
          <a:p>
            <a:pPr marL="228600" indent="-228600">
              <a:lnSpc>
                <a:spcPct val="11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Sliding windows will overlap consecutive intervals and provide more continuous trend visibility.</a:t>
            </a:r>
            <a:endParaRPr lang="en-US" sz="1550" dirty="0"/>
          </a:p>
          <a:p>
            <a:pPr marL="228600" indent="-228600">
              <a:lnSpc>
                <a:spcPct val="11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Latency, detection behavior and processing overhead will be compared between the two strategies.</a:t>
            </a:r>
            <a:endParaRPr lang="en-US" sz="1550" dirty="0"/>
          </a:p>
          <a:p>
            <a:pPr marL="228600" indent="-228600">
              <a:lnSpc>
                <a:spcPct val="11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The streaming layer will complement historical MapReduce analysis rather than replace it.</a:t>
            </a:r>
            <a:endParaRPr lang="en-US" sz="1550" dirty="0"/>
          </a:p>
        </p:txBody>
      </p:sp>
      <p:sp>
        <p:nvSpPr>
          <p:cNvPr id="4" name="Text 2"/>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9. Hive Data Warehouse &amp; Format Benchmarking</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2727198"/>
                <a:gridCol w="2727198"/>
                <a:gridCol w="2727198"/>
                <a:gridCol w="2727198"/>
              </a:tblGrid>
              <a:tr h="457200">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Text / CSV</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ORC</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Parquet</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RCFile</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3291840">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Baseline format for simple ingestion and portability. Expected to require more storage and I/O for large scans.</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Columnar storage optimized for Hive workloads. Will be evaluated for compression and query performance.</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Columnar and broadly supported across the Big Data ecosystem. Will be tested for analytical scans and storage efficiency.</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A Hadoop-era columnar format that will provide a historical comparison point.</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10. Distributed Machine Learning</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5454396"/>
                <a:gridCol w="5454396"/>
              </a:tblGrid>
              <a:tr h="457200">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K-Means Customer Segmentation</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Random Forest Fraud Prediction</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3291840">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RFM features will be scaled and clustered using PySpark MLlib. The objective will be to identify customer groups such as high-value, frequent, occasional and low-engagement segments. Cluster profiles will be visualized for business interpretation.</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Historical transaction features will be used to train a distributed classifier. The model will estimate fraud likelihood and feature importance. Evaluation will include accuracy-oriented metrics plus fraud-sensitive measures such as precision, recall and F1-score.</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11. Streamlit Dashboard</a:t>
            </a:r>
            <a:endParaRPr lang="en-US" sz="2600" dirty="0"/>
          </a:p>
        </p:txBody>
      </p:sp>
      <p:sp>
        <p:nvSpPr>
          <p:cNvPr id="3" name="Text 1"/>
          <p:cNvSpPr txBox="1"/>
          <p:nvPr/>
        </p:nvSpPr>
        <p:spPr>
          <a:xfrm>
            <a:off x="640080" y="1463040"/>
            <a:ext cx="10908792" cy="24688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50" dirty="0">
                <a:solidFill>
                  <a:srgbClr val="333333"/>
                </a:solidFill>
                <a:latin typeface="Calibri" pitchFamily="34" charset="0"/>
                <a:ea typeface="Calibri" pitchFamily="34" charset="-122"/>
                <a:cs typeface="Calibri" pitchFamily="34" charset="-120"/>
              </a:rPr>
              <a:t>The dashboard will provide one interface for exploring outputs from HDFS, Hive, MongoDB, MapReduce, Spark Streaming and ML.</a:t>
            </a:r>
            <a:endParaRPr lang="en-US" sz="1450" dirty="0"/>
          </a:p>
          <a:p>
            <a:pPr marL="228600" indent="-228600">
              <a:lnSpc>
                <a:spcPct val="115000"/>
              </a:lnSpc>
              <a:spcAft>
                <a:spcPts val="1200"/>
              </a:spcAft>
              <a:buSzPct val="100000"/>
              <a:buChar char="•"/>
            </a:pPr>
            <a:r>
              <a:rPr lang="en-US" sz="1450" dirty="0">
                <a:solidFill>
                  <a:srgbClr val="333333"/>
                </a:solidFill>
                <a:latin typeface="Calibri" pitchFamily="34" charset="0"/>
                <a:ea typeface="Calibri" pitchFamily="34" charset="-122"/>
                <a:cs typeface="Calibri" pitchFamily="34" charset="-120"/>
              </a:rPr>
              <a:t>Planned views will include revenue by category, time trends, regional distribution, fraud indicators, customer clusters and benchmark comparisons.</a:t>
            </a:r>
            <a:endParaRPr lang="en-US" sz="1450" dirty="0"/>
          </a:p>
          <a:p>
            <a:pPr marL="228600" indent="-228600">
              <a:lnSpc>
                <a:spcPct val="115000"/>
              </a:lnSpc>
              <a:spcAft>
                <a:spcPts val="1200"/>
              </a:spcAft>
              <a:buSzPct val="100000"/>
              <a:buChar char="•"/>
            </a:pPr>
            <a:r>
              <a:rPr lang="en-US" sz="1450" dirty="0">
                <a:solidFill>
                  <a:srgbClr val="333333"/>
                </a:solidFill>
                <a:latin typeface="Calibri" pitchFamily="34" charset="0"/>
                <a:ea typeface="Calibri" pitchFamily="34" charset="-122"/>
                <a:cs typeface="Calibri" pitchFamily="34" charset="-120"/>
              </a:rPr>
              <a:t>Performance panels will compare storage configurations, file formats and streaming window strategies.</a:t>
            </a:r>
            <a:endParaRPr lang="en-US" sz="1450" dirty="0"/>
          </a:p>
          <a:p>
            <a:pPr marL="228600" indent="-228600">
              <a:lnSpc>
                <a:spcPct val="115000"/>
              </a:lnSpc>
              <a:spcAft>
                <a:spcPts val="1200"/>
              </a:spcAft>
              <a:buSzPct val="100000"/>
              <a:buChar char="•"/>
            </a:pPr>
            <a:r>
              <a:rPr lang="en-US" sz="1450" dirty="0">
                <a:solidFill>
                  <a:srgbClr val="333333"/>
                </a:solidFill>
                <a:latin typeface="Calibri" pitchFamily="34" charset="0"/>
                <a:ea typeface="Calibri" pitchFamily="34" charset="-122"/>
                <a:cs typeface="Calibri" pitchFamily="34" charset="-120"/>
              </a:rPr>
              <a:t>The dashboard will translate technical results into business-facing insights.</a:t>
            </a:r>
            <a:endParaRPr lang="en-US" sz="1450" dirty="0"/>
          </a:p>
        </p:txBody>
      </p:sp>
      <p:sp>
        <p:nvSpPr>
          <p:cNvPr id="4" name="Shape 2"/>
          <p:cNvSpPr/>
          <p:nvPr/>
        </p:nvSpPr>
        <p:spPr>
          <a:xfrm>
            <a:off x="640080" y="4160520"/>
            <a:ext cx="5271516" cy="502920"/>
          </a:xfrm>
          <a:prstGeom prst="rect">
            <a:avLst/>
          </a:prstGeom>
          <a:solidFill>
            <a:srgbClr val="FFFFFF"/>
          </a:solidFill>
          <a:ln w="12700">
            <a:solidFill>
              <a:srgbClr val="BFBFBF"/>
            </a:solidFill>
            <a:prstDash val="solid"/>
          </a:ln>
        </p:spPr>
      </p:sp>
      <p:sp>
        <p:nvSpPr>
          <p:cNvPr id="5" name="Text 3"/>
          <p:cNvSpPr txBox="1"/>
          <p:nvPr/>
        </p:nvSpPr>
        <p:spPr>
          <a:xfrm>
            <a:off x="777240" y="4160520"/>
            <a:ext cx="4997196" cy="50292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Revenue Trend  —  </a:t>
            </a:r>
            <a:pPr indent="0" marL="0">
              <a:buNone/>
            </a:pPr>
            <a:r>
              <a:rPr lang="en-US" sz="1250" dirty="0">
                <a:solidFill>
                  <a:srgbClr val="333333"/>
                </a:solidFill>
                <a:latin typeface="Calibri" pitchFamily="34" charset="0"/>
                <a:ea typeface="Calibri" pitchFamily="34" charset="-122"/>
                <a:cs typeface="Calibri" pitchFamily="34" charset="-120"/>
              </a:rPr>
              <a:t>Time-series</a:t>
            </a:r>
            <a:endParaRPr lang="en-US" sz="1250" dirty="0"/>
          </a:p>
        </p:txBody>
      </p:sp>
      <p:sp>
        <p:nvSpPr>
          <p:cNvPr id="6" name="Shape 4"/>
          <p:cNvSpPr/>
          <p:nvPr/>
        </p:nvSpPr>
        <p:spPr>
          <a:xfrm>
            <a:off x="6277356" y="4160520"/>
            <a:ext cx="5271516" cy="502920"/>
          </a:xfrm>
          <a:prstGeom prst="rect">
            <a:avLst/>
          </a:prstGeom>
          <a:solidFill>
            <a:srgbClr val="FFFFFF"/>
          </a:solidFill>
          <a:ln w="12700">
            <a:solidFill>
              <a:srgbClr val="BFBFBF"/>
            </a:solidFill>
            <a:prstDash val="solid"/>
          </a:ln>
        </p:spPr>
      </p:sp>
      <p:sp>
        <p:nvSpPr>
          <p:cNvPr id="7" name="Text 5"/>
          <p:cNvSpPr txBox="1"/>
          <p:nvPr/>
        </p:nvSpPr>
        <p:spPr>
          <a:xfrm>
            <a:off x="6414516" y="4160520"/>
            <a:ext cx="4997196" cy="50292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Fraud  —  </a:t>
            </a:r>
            <a:pPr indent="0" marL="0">
              <a:buNone/>
            </a:pPr>
            <a:r>
              <a:rPr lang="en-US" sz="1250" dirty="0">
                <a:solidFill>
                  <a:srgbClr val="333333"/>
                </a:solidFill>
                <a:latin typeface="Calibri" pitchFamily="34" charset="0"/>
                <a:ea typeface="Calibri" pitchFamily="34" charset="-122"/>
                <a:cs typeface="Calibri" pitchFamily="34" charset="-120"/>
              </a:rPr>
              <a:t>Live indicators</a:t>
            </a:r>
            <a:endParaRPr lang="en-US" sz="1250" dirty="0"/>
          </a:p>
        </p:txBody>
      </p:sp>
      <p:sp>
        <p:nvSpPr>
          <p:cNvPr id="8" name="Shape 6"/>
          <p:cNvSpPr/>
          <p:nvPr/>
        </p:nvSpPr>
        <p:spPr>
          <a:xfrm>
            <a:off x="640080" y="4892040"/>
            <a:ext cx="5271516" cy="502920"/>
          </a:xfrm>
          <a:prstGeom prst="rect">
            <a:avLst/>
          </a:prstGeom>
          <a:solidFill>
            <a:srgbClr val="FFFFFF"/>
          </a:solidFill>
          <a:ln w="12700">
            <a:solidFill>
              <a:srgbClr val="BFBFBF"/>
            </a:solidFill>
            <a:prstDash val="solid"/>
          </a:ln>
        </p:spPr>
      </p:sp>
      <p:sp>
        <p:nvSpPr>
          <p:cNvPr id="9" name="Text 7"/>
          <p:cNvSpPr txBox="1"/>
          <p:nvPr/>
        </p:nvSpPr>
        <p:spPr>
          <a:xfrm>
            <a:off x="777240" y="4892040"/>
            <a:ext cx="4997196" cy="50292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Customers  —  </a:t>
            </a:r>
            <a:pPr indent="0" marL="0">
              <a:buNone/>
            </a:pPr>
            <a:r>
              <a:rPr lang="en-US" sz="1250" dirty="0">
                <a:solidFill>
                  <a:srgbClr val="333333"/>
                </a:solidFill>
                <a:latin typeface="Calibri" pitchFamily="34" charset="0"/>
                <a:ea typeface="Calibri" pitchFamily="34" charset="-122"/>
                <a:cs typeface="Calibri" pitchFamily="34" charset="-120"/>
              </a:rPr>
              <a:t>RFM clusters</a:t>
            </a:r>
            <a:endParaRPr lang="en-US" sz="1250" dirty="0"/>
          </a:p>
        </p:txBody>
      </p:sp>
      <p:sp>
        <p:nvSpPr>
          <p:cNvPr id="10" name="Shape 8"/>
          <p:cNvSpPr/>
          <p:nvPr/>
        </p:nvSpPr>
        <p:spPr>
          <a:xfrm>
            <a:off x="6277356" y="4892040"/>
            <a:ext cx="5271516" cy="502920"/>
          </a:xfrm>
          <a:prstGeom prst="rect">
            <a:avLst/>
          </a:prstGeom>
          <a:solidFill>
            <a:srgbClr val="FFFFFF"/>
          </a:solidFill>
          <a:ln w="12700">
            <a:solidFill>
              <a:srgbClr val="BFBFBF"/>
            </a:solidFill>
            <a:prstDash val="solid"/>
          </a:ln>
        </p:spPr>
      </p:sp>
      <p:sp>
        <p:nvSpPr>
          <p:cNvPr id="11" name="Text 9"/>
          <p:cNvSpPr txBox="1"/>
          <p:nvPr/>
        </p:nvSpPr>
        <p:spPr>
          <a:xfrm>
            <a:off x="6414516" y="4892040"/>
            <a:ext cx="4997196" cy="50292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Benchmarks  —  </a:t>
            </a:r>
            <a:pPr indent="0" marL="0">
              <a:buNone/>
            </a:pPr>
            <a:r>
              <a:rPr lang="en-US" sz="1250" dirty="0">
                <a:solidFill>
                  <a:srgbClr val="333333"/>
                </a:solidFill>
                <a:latin typeface="Calibri" pitchFamily="34" charset="0"/>
                <a:ea typeface="Calibri" pitchFamily="34" charset="-122"/>
                <a:cs typeface="Calibri" pitchFamily="34" charset="-120"/>
              </a:rPr>
              <a:t>HDFS / Hive / MongoDB</a:t>
            </a:r>
            <a:endParaRPr lang="en-US" sz="1250" dirty="0"/>
          </a:p>
        </p:txBody>
      </p:sp>
      <p:sp>
        <p:nvSpPr>
          <p:cNvPr id="12" name="Text 10"/>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12. Master Orchestration — run_all.py</a:t>
            </a:r>
            <a:endParaRPr lang="en-US" sz="2600" dirty="0"/>
          </a:p>
        </p:txBody>
      </p:sp>
      <p:sp>
        <p:nvSpPr>
          <p:cNvPr id="3" name="Text 1"/>
          <p:cNvSpPr txBox="1"/>
          <p:nvPr/>
        </p:nvSpPr>
        <p:spPr>
          <a:xfrm>
            <a:off x="640080" y="1554480"/>
            <a:ext cx="5225796" cy="45720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1.  </a:t>
            </a:r>
            <a:pPr indent="0" marL="0">
              <a:buNone/>
            </a:pPr>
            <a:r>
              <a:rPr lang="en-US" sz="1500" dirty="0">
                <a:solidFill>
                  <a:srgbClr val="333333"/>
                </a:solidFill>
                <a:latin typeface="Calibri" pitchFamily="34" charset="0"/>
                <a:ea typeface="Calibri" pitchFamily="34" charset="-122"/>
                <a:cs typeface="Calibri" pitchFamily="34" charset="-120"/>
              </a:rPr>
              <a:t>Generate / ingest data</a:t>
            </a:r>
            <a:endParaRPr lang="en-US" sz="1500" dirty="0"/>
          </a:p>
        </p:txBody>
      </p:sp>
      <p:sp>
        <p:nvSpPr>
          <p:cNvPr id="4" name="Text 2"/>
          <p:cNvSpPr txBox="1"/>
          <p:nvPr/>
        </p:nvSpPr>
        <p:spPr>
          <a:xfrm>
            <a:off x="640080" y="2103120"/>
            <a:ext cx="5225796" cy="45720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2.  </a:t>
            </a:r>
            <a:pPr indent="0" marL="0">
              <a:buNone/>
            </a:pPr>
            <a:r>
              <a:rPr lang="en-US" sz="1500" dirty="0">
                <a:solidFill>
                  <a:srgbClr val="333333"/>
                </a:solidFill>
                <a:latin typeface="Calibri" pitchFamily="34" charset="0"/>
                <a:ea typeface="Calibri" pitchFamily="34" charset="-122"/>
                <a:cs typeface="Calibri" pitchFamily="34" charset="-120"/>
              </a:rPr>
              <a:t>Clean &amp; transform</a:t>
            </a:r>
            <a:endParaRPr lang="en-US" sz="1500" dirty="0"/>
          </a:p>
        </p:txBody>
      </p:sp>
      <p:sp>
        <p:nvSpPr>
          <p:cNvPr id="5" name="Text 3"/>
          <p:cNvSpPr txBox="1"/>
          <p:nvPr/>
        </p:nvSpPr>
        <p:spPr>
          <a:xfrm>
            <a:off x="640080" y="2651760"/>
            <a:ext cx="5225796" cy="45720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3.  </a:t>
            </a:r>
            <a:pPr indent="0" marL="0">
              <a:buNone/>
            </a:pPr>
            <a:r>
              <a:rPr lang="en-US" sz="1500" dirty="0">
                <a:solidFill>
                  <a:srgbClr val="333333"/>
                </a:solidFill>
                <a:latin typeface="Calibri" pitchFamily="34" charset="0"/>
                <a:ea typeface="Calibri" pitchFamily="34" charset="-122"/>
                <a:cs typeface="Calibri" pitchFamily="34" charset="-120"/>
              </a:rPr>
              <a:t>Load HDFS</a:t>
            </a:r>
            <a:endParaRPr lang="en-US" sz="1500" dirty="0"/>
          </a:p>
        </p:txBody>
      </p:sp>
      <p:sp>
        <p:nvSpPr>
          <p:cNvPr id="6" name="Text 4"/>
          <p:cNvSpPr txBox="1"/>
          <p:nvPr/>
        </p:nvSpPr>
        <p:spPr>
          <a:xfrm>
            <a:off x="640080" y="3200400"/>
            <a:ext cx="5225796" cy="45720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4.  </a:t>
            </a:r>
            <a:pPr indent="0" marL="0">
              <a:buNone/>
            </a:pPr>
            <a:r>
              <a:rPr lang="en-US" sz="1500" dirty="0">
                <a:solidFill>
                  <a:srgbClr val="333333"/>
                </a:solidFill>
                <a:latin typeface="Calibri" pitchFamily="34" charset="0"/>
                <a:ea typeface="Calibri" pitchFamily="34" charset="-122"/>
                <a:cs typeface="Calibri" pitchFamily="34" charset="-120"/>
              </a:rPr>
              <a:t>Run MapReduce</a:t>
            </a:r>
            <a:endParaRPr lang="en-US" sz="1500" dirty="0"/>
          </a:p>
        </p:txBody>
      </p:sp>
      <p:sp>
        <p:nvSpPr>
          <p:cNvPr id="7" name="Text 5"/>
          <p:cNvSpPr txBox="1"/>
          <p:nvPr/>
        </p:nvSpPr>
        <p:spPr>
          <a:xfrm>
            <a:off x="640080" y="3749040"/>
            <a:ext cx="5225796" cy="45720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5.  </a:t>
            </a:r>
            <a:pPr indent="0" marL="0">
              <a:buNone/>
            </a:pPr>
            <a:r>
              <a:rPr lang="en-US" sz="1500" dirty="0">
                <a:solidFill>
                  <a:srgbClr val="333333"/>
                </a:solidFill>
                <a:latin typeface="Calibri" pitchFamily="34" charset="0"/>
                <a:ea typeface="Calibri" pitchFamily="34" charset="-122"/>
                <a:cs typeface="Calibri" pitchFamily="34" charset="-120"/>
              </a:rPr>
              <a:t>Load MongoDB</a:t>
            </a:r>
            <a:endParaRPr lang="en-US" sz="1500" dirty="0"/>
          </a:p>
        </p:txBody>
      </p:sp>
      <p:sp>
        <p:nvSpPr>
          <p:cNvPr id="8" name="Text 6"/>
          <p:cNvSpPr txBox="1"/>
          <p:nvPr/>
        </p:nvSpPr>
        <p:spPr>
          <a:xfrm>
            <a:off x="6323076" y="1554480"/>
            <a:ext cx="5225796" cy="45720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6.  </a:t>
            </a:r>
            <a:pPr indent="0" marL="0">
              <a:buNone/>
            </a:pPr>
            <a:r>
              <a:rPr lang="en-US" sz="1500" dirty="0">
                <a:solidFill>
                  <a:srgbClr val="333333"/>
                </a:solidFill>
                <a:latin typeface="Calibri" pitchFamily="34" charset="0"/>
                <a:ea typeface="Calibri" pitchFamily="34" charset="-122"/>
                <a:cs typeface="Calibri" pitchFamily="34" charset="-120"/>
              </a:rPr>
              <a:t>Run Hive benchmarks</a:t>
            </a:r>
            <a:endParaRPr lang="en-US" sz="1500" dirty="0"/>
          </a:p>
        </p:txBody>
      </p:sp>
      <p:sp>
        <p:nvSpPr>
          <p:cNvPr id="9" name="Text 7"/>
          <p:cNvSpPr txBox="1"/>
          <p:nvPr/>
        </p:nvSpPr>
        <p:spPr>
          <a:xfrm>
            <a:off x="6323076" y="2103120"/>
            <a:ext cx="5225796" cy="45720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7.  </a:t>
            </a:r>
            <a:pPr indent="0" marL="0">
              <a:buNone/>
            </a:pPr>
            <a:r>
              <a:rPr lang="en-US" sz="1500" dirty="0">
                <a:solidFill>
                  <a:srgbClr val="333333"/>
                </a:solidFill>
                <a:latin typeface="Calibri" pitchFamily="34" charset="0"/>
                <a:ea typeface="Calibri" pitchFamily="34" charset="-122"/>
                <a:cs typeface="Calibri" pitchFamily="34" charset="-120"/>
              </a:rPr>
              <a:t>Start Spark streaming</a:t>
            </a:r>
            <a:endParaRPr lang="en-US" sz="1500" dirty="0"/>
          </a:p>
        </p:txBody>
      </p:sp>
      <p:sp>
        <p:nvSpPr>
          <p:cNvPr id="10" name="Text 8"/>
          <p:cNvSpPr txBox="1"/>
          <p:nvPr/>
        </p:nvSpPr>
        <p:spPr>
          <a:xfrm>
            <a:off x="6323076" y="2651760"/>
            <a:ext cx="5225796" cy="45720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8.  </a:t>
            </a:r>
            <a:pPr indent="0" marL="0">
              <a:buNone/>
            </a:pPr>
            <a:r>
              <a:rPr lang="en-US" sz="1500" dirty="0">
                <a:solidFill>
                  <a:srgbClr val="333333"/>
                </a:solidFill>
                <a:latin typeface="Calibri" pitchFamily="34" charset="0"/>
                <a:ea typeface="Calibri" pitchFamily="34" charset="-122"/>
                <a:cs typeface="Calibri" pitchFamily="34" charset="-120"/>
              </a:rPr>
              <a:t>Train ML models</a:t>
            </a:r>
            <a:endParaRPr lang="en-US" sz="1500" dirty="0"/>
          </a:p>
        </p:txBody>
      </p:sp>
      <p:sp>
        <p:nvSpPr>
          <p:cNvPr id="11" name="Text 9"/>
          <p:cNvSpPr txBox="1"/>
          <p:nvPr/>
        </p:nvSpPr>
        <p:spPr>
          <a:xfrm>
            <a:off x="6323076" y="3200400"/>
            <a:ext cx="5225796" cy="45720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9.  </a:t>
            </a:r>
            <a:pPr indent="0" marL="0">
              <a:buNone/>
            </a:pPr>
            <a:r>
              <a:rPr lang="en-US" sz="1500" dirty="0">
                <a:solidFill>
                  <a:srgbClr val="333333"/>
                </a:solidFill>
                <a:latin typeface="Calibri" pitchFamily="34" charset="0"/>
                <a:ea typeface="Calibri" pitchFamily="34" charset="-122"/>
                <a:cs typeface="Calibri" pitchFamily="34" charset="-120"/>
              </a:rPr>
              <a:t>Build outputs</a:t>
            </a:r>
            <a:endParaRPr lang="en-US" sz="1500" dirty="0"/>
          </a:p>
        </p:txBody>
      </p:sp>
      <p:sp>
        <p:nvSpPr>
          <p:cNvPr id="12" name="Text 10"/>
          <p:cNvSpPr txBox="1"/>
          <p:nvPr/>
        </p:nvSpPr>
        <p:spPr>
          <a:xfrm>
            <a:off x="6323076" y="3749040"/>
            <a:ext cx="5225796" cy="45720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10.  </a:t>
            </a:r>
            <a:pPr indent="0" marL="0">
              <a:buNone/>
            </a:pPr>
            <a:r>
              <a:rPr lang="en-US" sz="1500" dirty="0">
                <a:solidFill>
                  <a:srgbClr val="333333"/>
                </a:solidFill>
                <a:latin typeface="Calibri" pitchFamily="34" charset="0"/>
                <a:ea typeface="Calibri" pitchFamily="34" charset="-122"/>
                <a:cs typeface="Calibri" pitchFamily="34" charset="-120"/>
              </a:rPr>
              <a:t>Launch dashboard</a:t>
            </a:r>
            <a:endParaRPr lang="en-US" sz="1500" dirty="0"/>
          </a:p>
        </p:txBody>
      </p:sp>
      <p:sp>
        <p:nvSpPr>
          <p:cNvPr id="13" name="Text 11"/>
          <p:cNvSpPr txBox="1"/>
          <p:nvPr/>
        </p:nvSpPr>
        <p:spPr>
          <a:xfrm>
            <a:off x="640080" y="4663440"/>
            <a:ext cx="10908792" cy="548640"/>
          </a:xfrm>
          <a:prstGeom prst="rect">
            <a:avLst/>
          </a:prstGeom>
          <a:noFill/>
          <a:ln/>
        </p:spPr>
        <p:txBody>
          <a:bodyPr wrap="square" lIns="0" tIns="0" rIns="0" bIns="0" rtlCol="0" anchor="ctr"/>
          <a:lstStyle/>
          <a:p>
            <a:pPr indent="0" marL="0">
              <a:buNone/>
            </a:pPr>
            <a:r>
              <a:rPr lang="en-US" sz="1300" i="1" dirty="0">
                <a:solidFill>
                  <a:srgbClr val="5A5A5A"/>
                </a:solidFill>
                <a:latin typeface="Calibri" pitchFamily="34" charset="0"/>
                <a:ea typeface="Calibri" pitchFamily="34" charset="-122"/>
                <a:cs typeface="Calibri" pitchFamily="34" charset="-120"/>
              </a:rPr>
              <a:t>The orchestration script will make the proposed workflow repeatable and easier to demonstrate during evaluation.</a:t>
            </a:r>
            <a:endParaRPr lang="en-US" sz="1300" dirty="0"/>
          </a:p>
        </p:txBody>
      </p:sp>
      <p:sp>
        <p:nvSpPr>
          <p:cNvPr id="14" name="Text 12"/>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457200"/>
            <a:ext cx="10908792" cy="64008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13. Evaluation Plan &amp; Expected Outcomes</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3636264"/>
                <a:gridCol w="3636264"/>
                <a:gridCol w="3636264"/>
              </a:tblGrid>
              <a:tr h="457200">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Storage</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Processing</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c>
                  <a:txBody>
                    <a:bodyPr/>
                    <a:lstStyle/>
                    <a:p>
                      <a:pPr algn="l" indent="0" marL="0">
                        <a:buNone/>
                      </a:pPr>
                      <a:r>
                        <a:rPr lang="en-US" sz="1400" b="1" dirty="0">
                          <a:solidFill>
                            <a:srgbClr val="1F3864"/>
                          </a:solidFill>
                          <a:latin typeface="Calibri" pitchFamily="34" charset="0"/>
                          <a:ea typeface="Calibri" pitchFamily="34" charset="-122"/>
                          <a:cs typeface="Calibri" pitchFamily="34" charset="-120"/>
                        </a:rPr>
                        <a:t>Business Value</a:t>
                      </a:r>
                      <a:endParaRPr lang="en-US" sz="140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2F2F2"/>
                    </a:solidFill>
                  </a:tcPr>
                </a:tc>
              </a:tr>
              <a:tr h="3291840">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Determine how replication and block size affect throughput and storage overhead. Identify a practical HDFS configuration for the workload.</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Compare MapReduce, Hive and Spark for different analytical tasks. Evaluate streaming windows using latency and fraud-detection behavior.</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250" dirty="0">
                          <a:solidFill>
                            <a:srgbClr val="333333"/>
                          </a:solidFill>
                          <a:latin typeface="Calibri" pitchFamily="34" charset="0"/>
                          <a:ea typeface="Calibri" pitchFamily="34" charset="-122"/>
                          <a:cs typeface="Calibri" pitchFamily="34" charset="-120"/>
                        </a:rPr>
                        <a:t>Identify high-value customer segments. Surface suspicious transactions. Present interpretable insights through the dashboard.</a:t>
                      </a:r>
                      <a:endParaRPr lang="en-US" sz="1250" dirty="0">
                        <a:latin typeface="Calibri" charset="0"/>
                        <a:ea typeface="Calibri" charset="0"/>
                        <a:cs typeface="Calibri" charset="0"/>
                      </a:endParaRPr>
                    </a:p>
                  </a:txBody>
                  <a:tcPr marL="127000" marR="127000" marT="101600" marB="101600" anchor="t">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11274552" y="6400800"/>
            <a:ext cx="548640" cy="274320"/>
          </a:xfrm>
          <a:prstGeom prst="rect">
            <a:avLst/>
          </a:prstGeom>
          <a:noFill/>
          <a:ln/>
        </p:spPr>
        <p:txBody>
          <a:bodyPr wrap="square" lIns="0" tIns="0" rIns="0" bIns="0" rtlCol="0" anchor="ctr"/>
          <a:lstStyle/>
          <a:p>
            <a:pPr algn="r" indent="0" marL="0">
              <a:buNone/>
            </a:pPr>
            <a:r>
              <a:rPr lang="en-US" sz="1000" dirty="0">
                <a:solidFill>
                  <a:srgbClr val="8C8C8C"/>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0" y="1371600"/>
            <a:ext cx="12188952" cy="640080"/>
          </a:xfrm>
          <a:prstGeom prst="rect">
            <a:avLst/>
          </a:prstGeom>
          <a:noFill/>
          <a:ln/>
        </p:spPr>
        <p:txBody>
          <a:bodyPr wrap="square" lIns="0" tIns="0" rIns="0" bIns="0" rtlCol="0" anchor="ctr"/>
          <a:lstStyle/>
          <a:p>
            <a:pPr algn="ctr" indent="0" marL="0">
              <a:buNone/>
            </a:pPr>
            <a:r>
              <a:rPr lang="en-US" sz="3000" b="1" dirty="0">
                <a:solidFill>
                  <a:srgbClr val="1F3864"/>
                </a:solidFill>
                <a:latin typeface="Cambria" pitchFamily="34" charset="0"/>
                <a:ea typeface="Cambria" pitchFamily="34" charset="-122"/>
                <a:cs typeface="Cambria" pitchFamily="34" charset="-120"/>
              </a:rPr>
              <a:t>Proposed Project Outcome</a:t>
            </a:r>
            <a:endParaRPr lang="en-US" sz="3000" dirty="0"/>
          </a:p>
        </p:txBody>
      </p:sp>
      <p:sp>
        <p:nvSpPr>
          <p:cNvPr id="3" name="Text 1"/>
          <p:cNvSpPr txBox="1"/>
          <p:nvPr/>
        </p:nvSpPr>
        <p:spPr>
          <a:xfrm>
            <a:off x="1280160" y="2331720"/>
            <a:ext cx="9628632" cy="27432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OmniPulse will demonstrate how multiple Big Data technologies can work together in one architecture.</a:t>
            </a:r>
            <a:endParaRPr lang="en-US" sz="1550" dirty="0"/>
          </a:p>
          <a:p>
            <a:pPr marL="228600" indent="-228600">
              <a:lnSpc>
                <a:spcPct val="11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The project will evaluate both historical batch analytics and real-time event processing.</a:t>
            </a:r>
            <a:endParaRPr lang="en-US" sz="1550" dirty="0"/>
          </a:p>
          <a:p>
            <a:pPr marL="228600" indent="-228600">
              <a:lnSpc>
                <a:spcPct val="11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The final system will connect distributed storage, NoSQL, SQL-on-Hadoop, streaming, machine learning and visualization.</a:t>
            </a:r>
            <a:endParaRPr lang="en-US" sz="1550" dirty="0"/>
          </a:p>
          <a:p>
            <a:pPr marL="228600" indent="-228600">
              <a:lnSpc>
                <a:spcPct val="115000"/>
              </a:lnSpc>
              <a:spcAft>
                <a:spcPts val="1200"/>
              </a:spcAft>
              <a:buSzPct val="100000"/>
              <a:buChar char="•"/>
            </a:pPr>
            <a:r>
              <a:rPr lang="en-US" sz="1550" dirty="0">
                <a:solidFill>
                  <a:srgbClr val="333333"/>
                </a:solidFill>
                <a:latin typeface="Calibri" pitchFamily="34" charset="0"/>
                <a:ea typeface="Calibri" pitchFamily="34" charset="-122"/>
                <a:cs typeface="Calibri" pitchFamily="34" charset="-120"/>
              </a:rPr>
              <a:t>The recommended 4.3 GB dunnhumby dataset will provide a realistic scale for demonstrating the architecture.</a:t>
            </a:r>
            <a:endParaRPr lang="en-US" sz="1550" dirty="0"/>
          </a:p>
        </p:txBody>
      </p:sp>
      <p:sp>
        <p:nvSpPr>
          <p:cNvPr id="4" name="Text 2"/>
          <p:cNvSpPr txBox="1"/>
          <p:nvPr/>
        </p:nvSpPr>
        <p:spPr>
          <a:xfrm>
            <a:off x="0" y="5577840"/>
            <a:ext cx="12188952" cy="320040"/>
          </a:xfrm>
          <a:prstGeom prst="rect">
            <a:avLst/>
          </a:prstGeom>
          <a:noFill/>
          <a:ln/>
        </p:spPr>
        <p:txBody>
          <a:bodyPr wrap="square" lIns="0" tIns="0" rIns="0" bIns="0" rtlCol="0" anchor="ctr"/>
          <a:lstStyle/>
          <a:p>
            <a:pPr algn="ctr" indent="0" marL="0">
              <a:buNone/>
            </a:pPr>
            <a:r>
              <a:rPr lang="en-US" sz="1200" dirty="0">
                <a:solidFill>
                  <a:srgbClr val="5A5A5A"/>
                </a:solidFill>
                <a:latin typeface="Calibri" pitchFamily="34" charset="0"/>
                <a:ea typeface="Calibri" pitchFamily="34" charset="-122"/>
                <a:cs typeface="Calibri" pitchFamily="34" charset="-120"/>
              </a:rPr>
              <a:t>Dataset source: </a:t>
            </a:r>
            <a:pPr algn="ctr" indent="0" marL="0">
              <a:buNone/>
            </a:pPr>
            <a:r>
              <a:rPr lang="en-US" sz="1200" u="sng" dirty="0">
                <a:solidFill>
                  <a:srgbClr val="1155CC"/>
                </a:solidFill>
                <a:latin typeface="Calibri" pitchFamily="34" charset="0"/>
                <a:ea typeface="Calibri" pitchFamily="34" charset="-122"/>
                <a:cs typeface="Calibri" pitchFamily="34" charset="-120"/>
              </a:rPr>
              <a:t>dunnhumby Source Files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2026-09-15T17:53:16Z</dcterms:created>
  <dcterms:modified xsi:type="dcterms:W3CDTF">2026-09-15T17:53:16Z</dcterms:modified>
</cp:coreProperties>
</file>